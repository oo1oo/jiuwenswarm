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6"/>
  </p:sldMasterIdLst>
  <p:sldIdLst>
    <p:sldId id="256" r:id="rId2"/>
    <p:sldId id="257" r:id="rId3"/>
    <p:sldId id="258" r:id="rId4"/>
    <p:sldId id="259" r:id="rId5"/>
    <p:sldId id="260" r:id="rId6"/>
  </p:sldIdLst>
  <p:sldSz cx="12191695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 Slide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Title"/>
          <p:cNvSpPr txBox="1"/>
          <p:nvPr/>
        </p:nvSpPr>
        <p:spPr>
          <a:xfrm>
            <a:off x="640080" y="1188720"/>
            <a:ext cx="10789920" cy="10058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8F0FE"/>
            </a:solidFill>
          </a:ln>
        </p:spPr>
        <p:txBody>
          <a:bodyPr wrap="square" rtlCol="0" anchor="ctr"/>
          <a:lstStyle/>
          <a:p>
            <a:pPr algn="ctr"/>
            <a:r>
              <a:rPr lang="zh-CN" sz="3200" b="1" dirty="0" smtClean="0">
                <a:solidFill>
                  <a:srgbClr val="0F172A"/>
                </a:solidFill>
              </a:rPr>
              <a:t>JiuwenSwarm 项目整体架构</a:t>
            </a:r>
            <a:endParaRPr lang="zh-CN" sz="3200"/>
          </a:p>
        </p:txBody>
      </p:sp>
      <p:sp>
        <p:nvSpPr>
          <p:cNvPr id="3" name="SubTitle"/>
          <p:cNvSpPr txBox="1"/>
          <p:nvPr/>
        </p:nvSpPr>
        <p:spPr>
          <a:xfrm>
            <a:off x="2011680" y="2423160"/>
            <a:ext cx="81381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/>
            <a:r>
              <a:rPr lang="zh-CN" sz="1800" b="0" dirty="0" smtClean="0">
                <a:solidFill>
                  <a:srgbClr val="475569"/>
                </a:solidFill>
              </a:rPr>
              <a:t>汇报版架构说明与核心调用链</a:t>
            </a:r>
            <a:endParaRPr lang="zh-CN" sz="1800"/>
          </a:p>
        </p:txBody>
      </p:sp>
      <p:sp>
        <p:nvSpPr>
          <p:cNvPr id="4" name="BulletBox4"/>
          <p:cNvSpPr txBox="1"/>
          <p:nvPr/>
        </p:nvSpPr>
        <p:spPr>
          <a:xfrm>
            <a:off x="1097280" y="3657600"/>
            <a:ext cx="99669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 lIns="91440" tIns="68580" rIns="91440" bIns="68580"/>
          <a:lstStyle/>
          <a:p>
            <a:pPr algn="l"/>
            <a:r>
              <a:rPr lang="zh-CN" sz="2200" b="1">
                <a:solidFill>
                  <a:srgbClr val="0F172A"/>
                </a:solidFill>
              </a:rPr>
              <a:t>本页重点</a:t>
            </a:r>
            <a:endParaRPr lang="zh-CN" sz="22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双进程架构：Gateway 负责接入治理，AgentServer 负责执行运行时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多渠道统一接入：Web、TUI、ACP 与多 IM 平台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核心能力可扩展：Skill、Memory、Team、Sandbox</a:t>
            </a:r>
            <a:endParaRPr lang="zh-CN" sz="1600"/>
          </a:p>
        </p:txBody>
      </p:sp>
      <p:sp>
        <p:nvSpPr>
          <p:cNvPr id="5" name="Footer"/>
          <p:cNvSpPr txBox="1"/>
          <p:nvPr/>
        </p:nvSpPr>
        <p:spPr>
          <a:xfrm>
            <a:off x="640080" y="6263640"/>
            <a:ext cx="109728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r"/>
            <a:r>
              <a:rPr lang="zh-CN" sz="1100" b="0" dirty="0" smtClean="0">
                <a:solidFill>
                  <a:srgbClr val="64748B"/>
                </a:solidFill>
              </a:rPr>
              <a:t>生成时间：2026-06-15    输出文件：JiuwenSwarm_项目整体架构汇报版.pptx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l"/>
            <a:r>
              <a:rPr lang="zh-CN" sz="2800" b="1" dirty="0" smtClean="0">
                <a:solidFill>
                  <a:srgbClr val="0F172A"/>
                </a:solidFill>
              </a:rPr>
              <a:t>一页总览</a:t>
            </a:r>
            <a:endParaRPr lang="zh-CN" sz="280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0789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l"/>
            <a:r>
              <a:rPr lang="zh-CN" sz="1400" b="0" dirty="0" smtClean="0">
                <a:solidFill>
                  <a:srgbClr val="475569"/>
                </a:solidFill>
              </a:rPr>
              <a:t>适合首页展示，突出系统从入口到执行再到基础能力的主链路</a:t>
            </a:r>
            <a:endParaRPr lang="zh-CN" sz="1400"/>
          </a:p>
        </p:txBody>
      </p:sp>
      <p:sp>
        <p:nvSpPr>
          <p:cNvPr id="4" name="U"/>
          <p:cNvSpPr txBox="1"/>
          <p:nvPr/>
        </p:nvSpPr>
        <p:spPr>
          <a:xfrm>
            <a:off x="457200" y="2331720"/>
            <a:ext cx="1920240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txBody>
          <a:bodyPr wrap="square" rtlCol="0" anchor="ctr"/>
          <a:lstStyle/>
          <a:p>
            <a:pPr algn="ctr"/>
            <a:r>
              <a:rPr lang="zh-CN" sz="2200" b="1" dirty="0" smtClean="0">
                <a:solidFill>
                  <a:srgbClr val="0C4A6E"/>
                </a:solidFill>
              </a:rPr>
              <a:t>用户与</a:t>
            </a:r>
            <a:endParaRPr lang="zh-CN" sz="2200"/>
          </a:p>
          <a:p>
            <a:pPr algn="ctr"/>
            <a:r>
              <a:rPr lang="zh-CN" sz="2200" b="1" dirty="0" smtClean="0">
                <a:solidFill>
                  <a:srgbClr val="0C4A6E"/>
                </a:solidFill>
              </a:rPr>
              <a:t>外部入口</a:t>
            </a:r>
            <a:endParaRPr lang="zh-CN" sz="2200"/>
          </a:p>
        </p:txBody>
      </p:sp>
      <p:sp>
        <p:nvSpPr>
          <p:cNvPr id="5" name="Arrow5"/>
          <p:cNvSpPr txBox="1"/>
          <p:nvPr/>
        </p:nvSpPr>
        <p:spPr>
          <a:xfrm>
            <a:off x="2468880" y="2578608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/>
            <a:r>
              <a:rPr lang="zh-CN" sz="2400" b="1" dirty="0" smtClean="0">
                <a:solidFill>
                  <a:srgbClr val="64748B"/>
                </a:solidFill>
              </a:rPr>
              <a:t>→</a:t>
            </a:r>
            <a:endParaRPr lang="zh-CN" sz="2400"/>
          </a:p>
        </p:txBody>
      </p:sp>
      <p:sp>
        <p:nvSpPr>
          <p:cNvPr id="6" name="C"/>
          <p:cNvSpPr txBox="1"/>
          <p:nvPr/>
        </p:nvSpPr>
        <p:spPr>
          <a:xfrm>
            <a:off x="2926080" y="2331720"/>
            <a:ext cx="192024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rtlCol="0" anchor="ctr"/>
          <a:lstStyle/>
          <a:p>
            <a:pPr algn="ctr"/>
            <a:r>
              <a:rPr lang="zh-CN" sz="1800" b="1" dirty="0" smtClean="0">
                <a:solidFill>
                  <a:srgbClr val="14532D"/>
                </a:solidFill>
              </a:rPr>
              <a:t>多渠道接入层</a:t>
            </a:r>
            <a:endParaRPr lang="zh-CN" sz="1800"/>
          </a:p>
          <a:p>
            <a:pPr algn="ctr"/>
            <a:r>
              <a:rPr lang="zh-CN" sz="1800" b="1" dirty="0" smtClean="0">
                <a:solidFill>
                  <a:srgbClr val="14532D"/>
                </a:solidFill>
              </a:rPr>
              <a:t>Web / TUI / ACP / IM</a:t>
            </a:r>
            <a:endParaRPr lang="zh-CN" sz="1800"/>
          </a:p>
        </p:txBody>
      </p:sp>
      <p:sp>
        <p:nvSpPr>
          <p:cNvPr id="7" name="Arrow7"/>
          <p:cNvSpPr txBox="1"/>
          <p:nvPr/>
        </p:nvSpPr>
        <p:spPr>
          <a:xfrm>
            <a:off x="4937760" y="2578608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/>
            <a:r>
              <a:rPr lang="zh-CN" sz="2400" b="1" dirty="0" smtClean="0">
                <a:solidFill>
                  <a:srgbClr val="64748B"/>
                </a:solidFill>
              </a:rPr>
              <a:t>→</a:t>
            </a:r>
            <a:endParaRPr lang="zh-CN" sz="2400"/>
          </a:p>
        </p:txBody>
      </p:sp>
      <p:sp>
        <p:nvSpPr>
          <p:cNvPr id="8" name="G"/>
          <p:cNvSpPr txBox="1"/>
          <p:nvPr/>
        </p:nvSpPr>
        <p:spPr>
          <a:xfrm>
            <a:off x="5394960" y="2331720"/>
            <a:ext cx="192024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rtlCol="0" anchor="ctr"/>
          <a:lstStyle/>
          <a:p>
            <a:pPr algn="ctr"/>
            <a:r>
              <a:rPr lang="zh-CN" sz="1800" b="1" dirty="0" smtClean="0">
                <a:solidFill>
                  <a:srgbClr val="78350F"/>
                </a:solidFill>
              </a:rPr>
              <a:t>Gateway</a:t>
            </a:r>
            <a:endParaRPr lang="zh-CN" sz="1800"/>
          </a:p>
          <a:p>
            <a:pPr algn="ctr"/>
            <a:r>
              <a:rPr lang="zh-CN" sz="1800" b="1" dirty="0" smtClean="0">
                <a:solidFill>
                  <a:srgbClr val="78350F"/>
                </a:solidFill>
              </a:rPr>
              <a:t>接入管理 / 路由 / Cron</a:t>
            </a:r>
            <a:endParaRPr lang="zh-CN" sz="1800"/>
          </a:p>
        </p:txBody>
      </p:sp>
      <p:sp>
        <p:nvSpPr>
          <p:cNvPr id="9" name="Arrow9"/>
          <p:cNvSpPr txBox="1"/>
          <p:nvPr/>
        </p:nvSpPr>
        <p:spPr>
          <a:xfrm>
            <a:off x="7406640" y="2578608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/>
            <a:r>
              <a:rPr lang="zh-CN" sz="2400" b="1" dirty="0" smtClean="0">
                <a:solidFill>
                  <a:srgbClr val="64748B"/>
                </a:solidFill>
              </a:rPr>
              <a:t>→</a:t>
            </a:r>
            <a:endParaRPr lang="zh-CN" sz="2400"/>
          </a:p>
        </p:txBody>
      </p:sp>
      <p:sp>
        <p:nvSpPr>
          <p:cNvPr id="10" name="A"/>
          <p:cNvSpPr txBox="1"/>
          <p:nvPr/>
        </p:nvSpPr>
        <p:spPr>
          <a:xfrm>
            <a:off x="7863840" y="2331720"/>
            <a:ext cx="1965960" cy="9144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E9D5FF"/>
            </a:solidFill>
          </a:ln>
        </p:spPr>
        <p:txBody>
          <a:bodyPr wrap="square" rtlCol="0" anchor="ctr"/>
          <a:lstStyle/>
          <a:p>
            <a:pPr algn="ctr"/>
            <a:r>
              <a:rPr lang="zh-CN" sz="1800" b="1" dirty="0" smtClean="0">
                <a:solidFill>
                  <a:srgbClr val="581C87"/>
                </a:solidFill>
              </a:rPr>
              <a:t>AgentServer</a:t>
            </a:r>
            <a:endParaRPr lang="zh-CN" sz="1800"/>
          </a:p>
          <a:p>
            <a:pPr algn="ctr"/>
            <a:r>
              <a:rPr lang="zh-CN" sz="1800" b="1" dirty="0" smtClean="0">
                <a:solidFill>
                  <a:srgbClr val="581C87"/>
                </a:solidFill>
              </a:rPr>
              <a:t>会话 / 运行时 / 技能</a:t>
            </a:r>
            <a:endParaRPr lang="zh-CN" sz="1800"/>
          </a:p>
        </p:txBody>
      </p:sp>
      <p:sp>
        <p:nvSpPr>
          <p:cNvPr id="11" name="Arrow11"/>
          <p:cNvSpPr txBox="1"/>
          <p:nvPr/>
        </p:nvSpPr>
        <p:spPr>
          <a:xfrm>
            <a:off x="9921240" y="2578608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/>
            <a:r>
              <a:rPr lang="zh-CN" sz="2400" b="1" dirty="0" smtClean="0">
                <a:solidFill>
                  <a:srgbClr val="64748B"/>
                </a:solidFill>
              </a:rPr>
              <a:t>→</a:t>
            </a:r>
            <a:endParaRPr lang="zh-CN" sz="2400"/>
          </a:p>
        </p:txBody>
      </p:sp>
      <p:sp>
        <p:nvSpPr>
          <p:cNvPr id="12" name="I"/>
          <p:cNvSpPr txBox="1"/>
          <p:nvPr/>
        </p:nvSpPr>
        <p:spPr>
          <a:xfrm>
            <a:off x="10469880" y="2331720"/>
            <a:ext cx="1234440" cy="9144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rtlCol="0" anchor="ctr"/>
          <a:lstStyle/>
          <a:p>
            <a:pPr algn="ctr"/>
            <a:r>
              <a:rPr lang="zh-CN" sz="1700" b="1" dirty="0" smtClean="0">
                <a:solidFill>
                  <a:srgbClr val="7F1D1D"/>
                </a:solidFill>
              </a:rPr>
              <a:t>基础能力</a:t>
            </a:r>
            <a:endParaRPr lang="zh-CN" sz="1700"/>
          </a:p>
          <a:p>
            <a:pPr algn="ctr"/>
            <a:r>
              <a:rPr lang="zh-CN" sz="1700" b="1" dirty="0" smtClean="0">
                <a:solidFill>
                  <a:srgbClr val="7F1D1D"/>
                </a:solidFill>
              </a:rPr>
              <a:t>LLM 等</a:t>
            </a:r>
            <a:endParaRPr lang="zh-CN" sz="1700"/>
          </a:p>
        </p:txBody>
      </p:sp>
      <p:sp>
        <p:nvSpPr>
          <p:cNvPr id="13" name="BulletBox13"/>
          <p:cNvSpPr txBox="1"/>
          <p:nvPr/>
        </p:nvSpPr>
        <p:spPr>
          <a:xfrm>
            <a:off x="731520" y="3977639"/>
            <a:ext cx="1097280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 lIns="91440" tIns="68580" rIns="91440" bIns="68580"/>
          <a:lstStyle/>
          <a:p>
            <a:pPr algn="l"/>
            <a:r>
              <a:rPr lang="zh-CN" sz="2200" b="1">
                <a:solidFill>
                  <a:srgbClr val="0F172A"/>
                </a:solidFill>
              </a:rPr>
              <a:t>管理层结论</a:t>
            </a:r>
            <a:endParaRPr lang="zh-CN" sz="22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入口层统一承接不同终端与第三方平台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Gateway 层做协议转换、消息治理与统一转发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AgentServer 聚焦执行控制，基础能力层支撑模型与扩展</a:t>
            </a:r>
            <a:endParaRPr lang="zh-CN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l"/>
            <a:r>
              <a:rPr lang="zh-CN" sz="2800" b="1" dirty="0" smtClean="0">
                <a:solidFill>
                  <a:srgbClr val="0F172A"/>
                </a:solidFill>
              </a:rPr>
              <a:t>分层架构</a:t>
            </a:r>
            <a:endParaRPr lang="zh-CN" sz="280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0789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l"/>
            <a:r>
              <a:rPr lang="zh-CN" sz="1400" b="0" dirty="0" smtClean="0">
                <a:solidFill>
                  <a:srgbClr val="475569"/>
                </a:solidFill>
              </a:rPr>
              <a:t>适合系统设计页，保留关键模块，避免实现细节过多</a:t>
            </a:r>
            <a:endParaRPr lang="zh-CN" sz="1400"/>
          </a:p>
        </p:txBody>
      </p:sp>
      <p:sp>
        <p:nvSpPr>
          <p:cNvPr id="4" name="L1"/>
          <p:cNvSpPr txBox="1"/>
          <p:nvPr/>
        </p:nvSpPr>
        <p:spPr>
          <a:xfrm>
            <a:off x="640080" y="1554480"/>
            <a:ext cx="10972800" cy="7132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rtlCol="0" anchor="ctr"/>
          <a:lstStyle/>
          <a:p>
            <a:pPr algn="l"/>
            <a:r>
              <a:rPr lang="zh-CN" sz="2200" b="1" dirty="0" smtClean="0">
                <a:solidFill>
                  <a:srgbClr val="1E3A8A"/>
                </a:solidFill>
              </a:rPr>
              <a:t>入口层：Web / TUI / ACP / IM</a:t>
            </a:r>
            <a:endParaRPr lang="zh-CN" sz="2200"/>
          </a:p>
        </p:txBody>
      </p:sp>
      <p:sp>
        <p:nvSpPr>
          <p:cNvPr id="5" name="L2"/>
          <p:cNvSpPr txBox="1"/>
          <p:nvPr/>
        </p:nvSpPr>
        <p:spPr>
          <a:xfrm>
            <a:off x="640080" y="2423160"/>
            <a:ext cx="10972800" cy="93268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rtlCol="0" anchor="ctr"/>
          <a:lstStyle/>
          <a:p>
            <a:pPr algn="l"/>
            <a:r>
              <a:rPr lang="zh-CN" sz="2000" b="1" dirty="0" smtClean="0">
                <a:solidFill>
                  <a:srgbClr val="166534"/>
                </a:solidFill>
              </a:rPr>
              <a:t>接入与治理层：Gateway / ChannelManager / MessageHandler / Heartbeat / Cron</a:t>
            </a:r>
            <a:endParaRPr lang="zh-CN" sz="2000"/>
          </a:p>
        </p:txBody>
      </p:sp>
      <p:sp>
        <p:nvSpPr>
          <p:cNvPr id="6" name="L3"/>
          <p:cNvSpPr txBox="1"/>
          <p:nvPr/>
        </p:nvSpPr>
        <p:spPr>
          <a:xfrm>
            <a:off x="640080" y="3566160"/>
            <a:ext cx="10972800" cy="98755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rtlCol="0" anchor="ctr"/>
          <a:lstStyle/>
          <a:p>
            <a:pPr algn="l"/>
            <a:r>
              <a:rPr lang="zh-CN" sz="1900" b="1" dirty="0" smtClean="0">
                <a:solidFill>
                  <a:srgbClr val="854D0E"/>
                </a:solidFill>
              </a:rPr>
              <a:t>执行运行时：AgentServer / AgentManager / JiuWenSwarm Runtime / SessionManager / SkillManager</a:t>
            </a:r>
            <a:endParaRPr lang="zh-CN" sz="1900"/>
          </a:p>
        </p:txBody>
      </p:sp>
      <p:sp>
        <p:nvSpPr>
          <p:cNvPr id="7" name="L4"/>
          <p:cNvSpPr txBox="1"/>
          <p:nvPr/>
        </p:nvSpPr>
        <p:spPr>
          <a:xfrm>
            <a:off x="640080" y="4754880"/>
            <a:ext cx="10972800" cy="9601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E9D5FF"/>
            </a:solidFill>
          </a:ln>
        </p:spPr>
        <p:txBody>
          <a:bodyPr wrap="square" rtlCol="0" anchor="ctr"/>
          <a:lstStyle/>
          <a:p>
            <a:pPr algn="l"/>
            <a:r>
              <a:rPr lang="zh-CN" sz="1800" b="1" dirty="0" smtClean="0">
                <a:solidFill>
                  <a:srgbClr val="6B21A8"/>
                </a:solidFill>
              </a:rPr>
              <a:t>基础设施与外部依赖：LLM / OpenJiuwen / History / Config / Extension / Memory Hook / JiuwenBox Sandbox</a:t>
            </a:r>
            <a:endParaRPr lang="zh-CN" sz="1800"/>
          </a:p>
        </p:txBody>
      </p:sp>
      <p:sp>
        <p:nvSpPr>
          <p:cNvPr id="8" name="BulletBox8"/>
          <p:cNvSpPr txBox="1"/>
          <p:nvPr/>
        </p:nvSpPr>
        <p:spPr>
          <a:xfrm>
            <a:off x="7635240" y="1417320"/>
            <a:ext cx="37033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 lIns="91440" tIns="68580" rIns="91440" bIns="68580"/>
          <a:lstStyle/>
          <a:p>
            <a:pPr algn="l"/>
            <a:r>
              <a:rPr lang="zh-CN" sz="2200" b="1">
                <a:solidFill>
                  <a:srgbClr val="0F172A"/>
                </a:solidFill>
              </a:rPr>
              <a:t>设计原则</a:t>
            </a:r>
            <a:endParaRPr lang="zh-CN" sz="22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接入层与执行层解耦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统一消息模型贯穿全链路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能力组件可横向扩展</a:t>
            </a:r>
            <a:endParaRPr lang="zh-CN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l"/>
            <a:r>
              <a:rPr lang="zh-CN" sz="2800" b="1" dirty="0" smtClean="0">
                <a:solidFill>
                  <a:srgbClr val="0F172A"/>
                </a:solidFill>
              </a:rPr>
              <a:t>核心调用链</a:t>
            </a:r>
            <a:endParaRPr lang="zh-CN" sz="280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0789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l"/>
            <a:r>
              <a:rPr lang="zh-CN" sz="1400" b="0" dirty="0" smtClean="0">
                <a:solidFill>
                  <a:srgbClr val="475569"/>
                </a:solidFill>
              </a:rPr>
              <a:t>以 Web 对话场景为例，展示从请求进入到结果回推的关键环节</a:t>
            </a:r>
            <a:endParaRPr lang="zh-CN" sz="1400"/>
          </a:p>
        </p:txBody>
      </p:sp>
      <p:sp>
        <p:nvSpPr>
          <p:cNvPr id="4" name="S1"/>
          <p:cNvSpPr txBox="1"/>
          <p:nvPr/>
        </p:nvSpPr>
        <p:spPr>
          <a:xfrm>
            <a:off x="502920" y="1828800"/>
            <a:ext cx="1691640" cy="8046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txBody>
          <a:bodyPr wrap="square" rtlCol="0" anchor="ctr"/>
          <a:lstStyle/>
          <a:p>
            <a:pPr algn="ctr"/>
            <a:r>
              <a:rPr lang="zh-CN" sz="2100" b="1" dirty="0" smtClean="0">
                <a:solidFill>
                  <a:srgbClr val="0C4A6E"/>
                </a:solidFill>
              </a:rPr>
              <a:t>1</a:t>
            </a:r>
            <a:endParaRPr lang="zh-CN" sz="2100"/>
          </a:p>
          <a:p>
            <a:pPr algn="ctr"/>
            <a:r>
              <a:rPr lang="zh-CN" sz="2100" b="1" dirty="0" smtClean="0">
                <a:solidFill>
                  <a:srgbClr val="0C4A6E"/>
                </a:solidFill>
              </a:rPr>
              <a:t>Browser</a:t>
            </a:r>
            <a:endParaRPr lang="zh-CN" sz="2100"/>
          </a:p>
        </p:txBody>
      </p:sp>
      <p:sp>
        <p:nvSpPr>
          <p:cNvPr id="5" name="Arrow5"/>
          <p:cNvSpPr txBox="1"/>
          <p:nvPr/>
        </p:nvSpPr>
        <p:spPr>
          <a:xfrm>
            <a:off x="2240280" y="2029968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/>
            <a:r>
              <a:rPr lang="zh-CN" sz="2400" b="1" dirty="0" smtClean="0">
                <a:solidFill>
                  <a:srgbClr val="64748B"/>
                </a:solidFill>
              </a:rPr>
              <a:t>→</a:t>
            </a:r>
            <a:endParaRPr lang="zh-CN" sz="2400"/>
          </a:p>
        </p:txBody>
      </p:sp>
      <p:sp>
        <p:nvSpPr>
          <p:cNvPr id="6" name="S2"/>
          <p:cNvSpPr txBox="1"/>
          <p:nvPr/>
        </p:nvSpPr>
        <p:spPr>
          <a:xfrm>
            <a:off x="2651760" y="1828800"/>
            <a:ext cx="1783080" cy="8046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rtlCol="0" anchor="ctr"/>
          <a:lstStyle/>
          <a:p>
            <a:pPr algn="ctr"/>
            <a:r>
              <a:rPr lang="zh-CN" sz="2000" b="1" dirty="0" smtClean="0">
                <a:solidFill>
                  <a:srgbClr val="14532D"/>
                </a:solidFill>
              </a:rPr>
              <a:t>2</a:t>
            </a:r>
            <a:endParaRPr lang="zh-CN" sz="2000"/>
          </a:p>
          <a:p>
            <a:pPr algn="ctr"/>
            <a:r>
              <a:rPr lang="zh-CN" sz="2000" b="1" dirty="0" smtClean="0">
                <a:solidFill>
                  <a:srgbClr val="14532D"/>
                </a:solidFill>
              </a:rPr>
              <a:t>WebChannel</a:t>
            </a:r>
            <a:endParaRPr lang="zh-CN" sz="2000"/>
          </a:p>
        </p:txBody>
      </p:sp>
      <p:sp>
        <p:nvSpPr>
          <p:cNvPr id="7" name="Arrow7"/>
          <p:cNvSpPr txBox="1"/>
          <p:nvPr/>
        </p:nvSpPr>
        <p:spPr>
          <a:xfrm>
            <a:off x="4498848" y="2029968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/>
            <a:r>
              <a:rPr lang="zh-CN" sz="2400" b="1" dirty="0" smtClean="0">
                <a:solidFill>
                  <a:srgbClr val="64748B"/>
                </a:solidFill>
              </a:rPr>
              <a:t>→</a:t>
            </a:r>
            <a:endParaRPr lang="zh-CN" sz="2400"/>
          </a:p>
        </p:txBody>
      </p:sp>
      <p:sp>
        <p:nvSpPr>
          <p:cNvPr id="8" name="S3"/>
          <p:cNvSpPr txBox="1"/>
          <p:nvPr/>
        </p:nvSpPr>
        <p:spPr>
          <a:xfrm>
            <a:off x="4892040" y="1828800"/>
            <a:ext cx="1828800" cy="8046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rtlCol="0" anchor="ctr"/>
          <a:lstStyle/>
          <a:p>
            <a:pPr algn="ctr"/>
            <a:r>
              <a:rPr lang="zh-CN" sz="1900" b="1" dirty="0" smtClean="0">
                <a:solidFill>
                  <a:srgbClr val="78350F"/>
                </a:solidFill>
              </a:rPr>
              <a:t>3</a:t>
            </a:r>
            <a:endParaRPr lang="zh-CN" sz="1900"/>
          </a:p>
          <a:p>
            <a:pPr algn="ctr"/>
            <a:r>
              <a:rPr lang="zh-CN" sz="1900" b="1" dirty="0" smtClean="0">
                <a:solidFill>
                  <a:srgbClr val="78350F"/>
                </a:solidFill>
              </a:rPr>
              <a:t>MessageHandler</a:t>
            </a:r>
            <a:endParaRPr lang="zh-CN" sz="1900"/>
          </a:p>
        </p:txBody>
      </p:sp>
      <p:sp>
        <p:nvSpPr>
          <p:cNvPr id="9" name="Arrow9"/>
          <p:cNvSpPr txBox="1"/>
          <p:nvPr/>
        </p:nvSpPr>
        <p:spPr>
          <a:xfrm>
            <a:off x="6766560" y="2029968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/>
            <a:r>
              <a:rPr lang="zh-CN" sz="2400" b="1" dirty="0" smtClean="0">
                <a:solidFill>
                  <a:srgbClr val="64748B"/>
                </a:solidFill>
              </a:rPr>
              <a:t>→</a:t>
            </a:r>
            <a:endParaRPr lang="zh-CN" sz="2400"/>
          </a:p>
        </p:txBody>
      </p:sp>
      <p:sp>
        <p:nvSpPr>
          <p:cNvPr id="10" name="S4"/>
          <p:cNvSpPr txBox="1"/>
          <p:nvPr/>
        </p:nvSpPr>
        <p:spPr>
          <a:xfrm>
            <a:off x="7178040" y="1828800"/>
            <a:ext cx="1828800" cy="80467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E9D5FF"/>
            </a:solidFill>
          </a:ln>
        </p:spPr>
        <p:txBody>
          <a:bodyPr wrap="square" rtlCol="0" anchor="ctr"/>
          <a:lstStyle/>
          <a:p>
            <a:pPr algn="ctr"/>
            <a:r>
              <a:rPr lang="zh-CN" sz="2000" b="1" dirty="0" smtClean="0">
                <a:solidFill>
                  <a:srgbClr val="581C87"/>
                </a:solidFill>
              </a:rPr>
              <a:t>4</a:t>
            </a:r>
            <a:endParaRPr lang="zh-CN" sz="2000"/>
          </a:p>
          <a:p>
            <a:pPr algn="ctr"/>
            <a:r>
              <a:rPr lang="zh-CN" sz="2000" b="1" dirty="0" smtClean="0">
                <a:solidFill>
                  <a:srgbClr val="581C87"/>
                </a:solidFill>
              </a:rPr>
              <a:t>AgentServer</a:t>
            </a:r>
            <a:endParaRPr lang="zh-CN" sz="2000"/>
          </a:p>
        </p:txBody>
      </p:sp>
      <p:sp>
        <p:nvSpPr>
          <p:cNvPr id="11" name="Arrow11"/>
          <p:cNvSpPr txBox="1"/>
          <p:nvPr/>
        </p:nvSpPr>
        <p:spPr>
          <a:xfrm>
            <a:off x="9052560" y="2029968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/>
            <a:r>
              <a:rPr lang="zh-CN" sz="2400" b="1" dirty="0" smtClean="0">
                <a:solidFill>
                  <a:srgbClr val="64748B"/>
                </a:solidFill>
              </a:rPr>
              <a:t>→</a:t>
            </a:r>
            <a:endParaRPr lang="zh-CN" sz="2400"/>
          </a:p>
        </p:txBody>
      </p:sp>
      <p:sp>
        <p:nvSpPr>
          <p:cNvPr id="12" name="S5"/>
          <p:cNvSpPr txBox="1"/>
          <p:nvPr/>
        </p:nvSpPr>
        <p:spPr>
          <a:xfrm>
            <a:off x="9464040" y="1828800"/>
            <a:ext cx="2148840" cy="8046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rtlCol="0" anchor="ctr"/>
          <a:lstStyle/>
          <a:p>
            <a:pPr algn="ctr"/>
            <a:r>
              <a:rPr lang="zh-CN" sz="1900" b="1" dirty="0" smtClean="0">
                <a:solidFill>
                  <a:srgbClr val="7F1D1D"/>
                </a:solidFill>
              </a:rPr>
              <a:t>5</a:t>
            </a:r>
            <a:endParaRPr lang="zh-CN" sz="1900"/>
          </a:p>
          <a:p>
            <a:pPr algn="ctr"/>
            <a:r>
              <a:rPr lang="zh-CN" sz="1900" b="1" dirty="0" smtClean="0">
                <a:solidFill>
                  <a:srgbClr val="7F1D1D"/>
                </a:solidFill>
              </a:rPr>
              <a:t>Runtime + Adapter</a:t>
            </a:r>
            <a:endParaRPr lang="zh-CN" sz="1900"/>
          </a:p>
        </p:txBody>
      </p:sp>
      <p:sp>
        <p:nvSpPr>
          <p:cNvPr id="13" name="BulletBox13"/>
          <p:cNvSpPr txBox="1"/>
          <p:nvPr/>
        </p:nvSpPr>
        <p:spPr>
          <a:xfrm>
            <a:off x="685800" y="3108960"/>
            <a:ext cx="539496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 lIns="91440" tIns="68580" rIns="91440" bIns="68580"/>
          <a:lstStyle/>
          <a:p>
            <a:pPr algn="l"/>
            <a:r>
              <a:rPr lang="zh-CN" sz="2200" b="1">
                <a:solidFill>
                  <a:srgbClr val="0F172A"/>
                </a:solidFill>
              </a:rPr>
              <a:t>主链步骤</a:t>
            </a:r>
            <a:endParaRPr lang="zh-CN" sz="22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WebChannel 解析请求并生成内部 Message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MessageHandler 处理状态、控制逻辑与转发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AgentServer 获取 Agent 实例并调度 Runtime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Runtime 写历史、做记忆增强并调用 Adapter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结果原路回传到前端，支持流式返回</a:t>
            </a:r>
            <a:endParaRPr lang="zh-CN" sz="1600"/>
          </a:p>
        </p:txBody>
      </p:sp>
      <p:sp>
        <p:nvSpPr>
          <p:cNvPr id="14" name="BulletBox14"/>
          <p:cNvSpPr txBox="1"/>
          <p:nvPr/>
        </p:nvSpPr>
        <p:spPr>
          <a:xfrm>
            <a:off x="6309360" y="3108960"/>
            <a:ext cx="48006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 lIns="91440" tIns="68580" rIns="91440" bIns="68580"/>
          <a:lstStyle/>
          <a:p>
            <a:pPr algn="l"/>
            <a:r>
              <a:rPr lang="zh-CN" sz="2200" b="1">
                <a:solidFill>
                  <a:srgbClr val="0F172A"/>
                </a:solidFill>
              </a:rPr>
              <a:t>评审要点</a:t>
            </a:r>
            <a:endParaRPr lang="zh-CN" sz="22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Gateway 不执行 Agent，只做接入治理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SessionManager 控制同 session 串行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Adapter 屏蔽底层模型与工具差异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回传链路与请求链路对称，便于追踪</a:t>
            </a:r>
            <a:endParaRPr lang="zh-CN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l"/>
            <a:r>
              <a:rPr lang="zh-CN" sz="2800" b="1" dirty="0" smtClean="0">
                <a:solidFill>
                  <a:srgbClr val="0F172A"/>
                </a:solidFill>
              </a:rPr>
              <a:t>价值与演进</a:t>
            </a:r>
            <a:endParaRPr lang="zh-CN" sz="2800"/>
          </a:p>
        </p:txBody>
      </p:sp>
      <p:sp>
        <p:nvSpPr>
          <p:cNvPr id="3" name="Subtitle"/>
          <p:cNvSpPr txBox="1"/>
          <p:nvPr/>
        </p:nvSpPr>
        <p:spPr>
          <a:xfrm>
            <a:off x="548640" y="914400"/>
            <a:ext cx="10789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l"/>
            <a:r>
              <a:rPr lang="zh-CN" sz="1400" b="0" dirty="0" smtClean="0">
                <a:solidFill>
                  <a:srgbClr val="475569"/>
                </a:solidFill>
              </a:rPr>
              <a:t>适合结论页，强调当前收益与后续扩展方向</a:t>
            </a:r>
            <a:endParaRPr lang="zh-CN" sz="1400"/>
          </a:p>
        </p:txBody>
      </p:sp>
      <p:sp>
        <p:nvSpPr>
          <p:cNvPr id="4" name="BulletBox4"/>
          <p:cNvSpPr txBox="1"/>
          <p:nvPr/>
        </p:nvSpPr>
        <p:spPr>
          <a:xfrm>
            <a:off x="594360" y="1554480"/>
            <a:ext cx="365760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 lIns="91440" tIns="68580" rIns="91440" bIns="68580"/>
          <a:lstStyle/>
          <a:p>
            <a:pPr algn="l"/>
            <a:r>
              <a:rPr lang="zh-CN" sz="2200" b="1">
                <a:solidFill>
                  <a:srgbClr val="0F172A"/>
                </a:solidFill>
              </a:rPr>
              <a:t>当前价值</a:t>
            </a:r>
            <a:endParaRPr lang="zh-CN" sz="22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双进程解耦，职责清晰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多渠道统一接入，前后端链路统一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支持会话、技能、记忆、团队与流式响应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扩展机制完善，便于接入新能力</a:t>
            </a:r>
            <a:endParaRPr lang="zh-CN" sz="1600"/>
          </a:p>
        </p:txBody>
      </p:sp>
      <p:sp>
        <p:nvSpPr>
          <p:cNvPr id="5" name="BulletBox5"/>
          <p:cNvSpPr txBox="1"/>
          <p:nvPr/>
        </p:nvSpPr>
        <p:spPr>
          <a:xfrm>
            <a:off x="4480560" y="1554480"/>
            <a:ext cx="365760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 lIns="91440" tIns="68580" rIns="91440" bIns="68580"/>
          <a:lstStyle/>
          <a:p>
            <a:pPr algn="l"/>
            <a:r>
              <a:rPr lang="zh-CN" sz="2200" b="1">
                <a:solidFill>
                  <a:srgbClr val="0F172A"/>
                </a:solidFill>
              </a:rPr>
              <a:t>架构亮点</a:t>
            </a:r>
            <a:endParaRPr lang="zh-CN" sz="22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统一消息模型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Gateway 负责治理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AgentServer 聚焦执行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Sandbox 支撑安全隔离</a:t>
            </a:r>
            <a:endParaRPr lang="zh-CN" sz="1600"/>
          </a:p>
        </p:txBody>
      </p:sp>
      <p:sp>
        <p:nvSpPr>
          <p:cNvPr id="6" name="BulletBox6"/>
          <p:cNvSpPr txBox="1"/>
          <p:nvPr/>
        </p:nvSpPr>
        <p:spPr>
          <a:xfrm>
            <a:off x="8366760" y="1554480"/>
            <a:ext cx="324612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 lIns="91440" tIns="68580" rIns="91440" bIns="68580"/>
          <a:lstStyle/>
          <a:p>
            <a:pPr algn="l"/>
            <a:r>
              <a:rPr lang="zh-CN" sz="2200" b="1">
                <a:solidFill>
                  <a:srgbClr val="0F172A"/>
                </a:solidFill>
              </a:rPr>
              <a:t>后续演进</a:t>
            </a:r>
            <a:endParaRPr lang="zh-CN" sz="22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多实例部署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分布式 Team 协作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远程执行与沙箱增强</a:t>
            </a:r>
            <a:endParaRPr lang="zh-CN" sz="1600"/>
          </a:p>
          <a:p>
            <a:pPr algn="l" marL="228600" indent="-171450"/>
            <a:r>
              <a:rPr lang="zh-CN" sz="1600" b="0">
                <a:solidFill>
                  <a:srgbClr val="334155"/>
                </a:solidFill>
              </a:rPr>
              <a:t>• 技能与检索能力继续增强</a:t>
            </a:r>
            <a:endParaRPr lang="zh-CN" sz="1600"/>
          </a:p>
        </p:txBody>
      </p:sp>
      <p:sp>
        <p:nvSpPr>
          <p:cNvPr id="7" name="Summary"/>
          <p:cNvSpPr txBox="1"/>
          <p:nvPr/>
        </p:nvSpPr>
        <p:spPr>
          <a:xfrm>
            <a:off x="777240" y="5486400"/>
            <a:ext cx="107899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rtlCol="0" anchor="ctr"/>
          <a:lstStyle/>
          <a:p>
            <a:pPr algn="l"/>
            <a:r>
              <a:rPr lang="zh-CN" sz="1700" b="1" dirty="0" smtClean="0">
                <a:solidFill>
                  <a:srgbClr val="1E3A8A"/>
                </a:solidFill>
              </a:rPr>
              <a:t>一句话总结：JiuwenSwarm 采用“统一接入、网关治理、运行时执行、基础能力解耦”的分层架构，兼顾扩展性、治理能力与演进空间。</a:t>
            </a:r>
            <a:endParaRPr lang="zh-CN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16A34A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Simple">
      <a:majorFont>
        <a:latin typeface="Aptos"/>
        <a:ea typeface="Microsoft YaHei"/>
        <a:cs typeface="Arial"/>
      </a:majorFont>
      <a:minorFont>
        <a:latin typeface="Aptos"/>
        <a:ea typeface="Microsoft YaHei"/>
        <a:cs typeface="Arial"/>
      </a:minorFont>
    </a:fontScheme>
    <a:fmtScheme name="Simpl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0</Notes>
  <HiddenSlides>0</HiddenSlides>
  <MMClips>0</MMClips>
  <ScaleCrop>false</ScaleCrop>
  <HeadingPairs>
    <vt:vector size="2" baseType="variant">
      <vt:variant>
        <vt:lpstr>主题</vt:lpstr>
      </vt:variant>
      <vt:variant>
        <vt:i4>1</vt:i4>
      </vt:variant>
    </vt:vector>
  </HeadingPairs>
  <TitlesOfParts>
    <vt:vector size="5" baseType="lpstr">
      <vt:lpstr>封面</vt:lpstr>
      <vt:lpstr>一页总览</vt:lpstr>
      <vt:lpstr>分层架构</vt:lpstr>
      <vt:lpstr>核心调用链</vt:lpstr>
      <vt:lpstr>价值与演进</vt:lpstr>
    </vt:vector>
  </TitlesOfParts>
  <Company>TRAE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JiuwenSwarm 项目整体架构汇报版</dc:title>
  <dc:subject>项目架构汇报</dc:subject>
  <dc:creator>TRAE Assistant</dc:creator>
  <cp:keywords>JiuwenSwarm, Architecture, PPT</cp:keywords>
  <dc:description>自动生成的项目整体架构汇报版 PowerPoint</dc:description>
  <cp:lastModifiedBy>TRAE Assistant</cp:lastModifiedBy>
  <dcterms:created xsi:type="dcterms:W3CDTF">2026-06-15T00:00:00Z</dcterms:created>
  <dcterms:modified xsi:type="dcterms:W3CDTF">2026-06-15T00:00:00Z</dcterms:modified>
</cp:coreProperties>
</file>